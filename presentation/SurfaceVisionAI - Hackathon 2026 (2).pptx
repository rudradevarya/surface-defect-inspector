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4630400" cy="8229600"/>
  <p:notesSz cx="8229600" cy="14630400"/>
  <p:embeddedFontLs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53C2CD-5A7D-6365-873F-673548DF1A59}" v="230" dt="2026-02-20T09:56:46.133"/>
    <p1510:client id="{BF2370E8-6DA5-B9D8-95D6-0854E0ED1A51}" v="10" dt="2026-02-21T05:50:14.258"/>
    <p1510:client id="{E9C1B32D-3AC5-D51E-CABB-0A3250D25E9E}" v="26" dt="2026-02-21T05:33:53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88EDF-3A82-4C6C-979A-6C891E5C1A8E}" type="datetimeFigureOut"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A60F5C-A659-4110-B0CD-F41F40D8B1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68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11" Type="http://schemas.openxmlformats.org/officeDocument/2006/relationships/image" Target="../media/image25.jpe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886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E3C4E"/>
                </a:solidFill>
                <a:latin typeface="Host Grotesk Medium"/>
                <a:ea typeface="Host Grotesk Medium" pitchFamily="34" charset="-122"/>
                <a:cs typeface="Host Grotesk Medium" pitchFamily="34" charset="-120"/>
              </a:rPr>
              <a:t>SurfaceVision</a:t>
            </a:r>
            <a:r>
              <a:rPr lang="en-US" sz="4450" dirty="0">
                <a:solidFill>
                  <a:srgbClr val="2E3C4E"/>
                </a:solidFill>
                <a:latin typeface="Host Grotesk Medium"/>
                <a:ea typeface="Host Grotesk Medium" pitchFamily="34" charset="-122"/>
                <a:cs typeface="Host Grotesk Medium" pitchFamily="34" charset="-120"/>
              </a:rPr>
              <a:t> AI</a:t>
            </a:r>
            <a:endParaRPr lang="en-US" sz="4450" dirty="0">
              <a:latin typeface="Host Grotesk Medium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137541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dirty="0">
                <a:solidFill>
                  <a:srgbClr val="384653"/>
                </a:solidFill>
              </a:rPr>
              <a:t>Multi-Domain Surface Defect Inspection System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280190" y="4732853"/>
            <a:ext cx="1803440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4800838"/>
            <a:ext cx="153126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HACKATHON 2026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6D3213-1797-2A8A-3D43-58216DC83A3C}"/>
              </a:ext>
            </a:extLst>
          </p:cNvPr>
          <p:cNvSpPr/>
          <p:nvPr/>
        </p:nvSpPr>
        <p:spPr>
          <a:xfrm>
            <a:off x="12394953" y="7567366"/>
            <a:ext cx="2235447" cy="662232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76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Current Challenges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796546"/>
            <a:ext cx="3664744" cy="1685330"/>
          </a:xfrm>
          <a:prstGeom prst="roundRect">
            <a:avLst>
              <a:gd name="adj" fmla="val 868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3796546"/>
            <a:ext cx="121920" cy="16853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524" y="4053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Metal Manufacturing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42524" y="4544258"/>
            <a:ext cx="305871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Surface defects cost billions in rework and scrap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348" y="3796546"/>
            <a:ext cx="3664863" cy="1685330"/>
          </a:xfrm>
          <a:prstGeom prst="roundRect">
            <a:avLst>
              <a:gd name="adj" fmla="val 868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68" y="3796546"/>
            <a:ext cx="121920" cy="16853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34082" y="4053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Building Safety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034082" y="4544258"/>
            <a:ext cx="305883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damage goes undetected until it's too late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72809"/>
            <a:ext cx="61619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E3C4E"/>
                </a:solidFill>
                <a:latin typeface="Host Grotesk Medium"/>
                <a:ea typeface="Host Grotesk Medium" pitchFamily="34" charset="-122"/>
                <a:cs typeface="Host Grotesk Medium" pitchFamily="34" charset="-120"/>
              </a:rPr>
              <a:t>SurfaceVision</a:t>
            </a:r>
            <a:r>
              <a:rPr lang="en-US" sz="4450" dirty="0">
                <a:solidFill>
                  <a:srgbClr val="2E3C4E"/>
                </a:solidFill>
                <a:latin typeface="Host Grotesk Medium"/>
                <a:ea typeface="Host Grotesk Medium" pitchFamily="34" charset="-122"/>
                <a:cs typeface="Host Grotesk Medium" pitchFamily="34" charset="-120"/>
              </a:rPr>
              <a:t> AI Solution</a:t>
            </a:r>
            <a:endParaRPr lang="en-US" sz="4450" dirty="0">
              <a:latin typeface="Host Grotesk Medium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521750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AI system that uses supervised detection to identify known defect types, providing precise quality assurance for familiar issues.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457224"/>
            <a:ext cx="7556421" cy="1299448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4691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384653"/>
                </a:solidFill>
                <a:latin typeface="Host Grotesk Medium"/>
              </a:rPr>
              <a:t>Phase 1: Supervised</a:t>
            </a:r>
            <a:endParaRPr lang="en-US" sz="2200" dirty="0">
              <a:latin typeface="Host Grotesk Medium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224" y="5182076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YOLOv8 identifies known defect types with precision bounding boxes</a:t>
            </a:r>
            <a:endParaRPr lang="en-US" sz="175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DD4AE70-DD92-B6FD-3AFD-426FCEED78F2}"/>
              </a:ext>
            </a:extLst>
          </p:cNvPr>
          <p:cNvSpPr/>
          <p:nvPr/>
        </p:nvSpPr>
        <p:spPr>
          <a:xfrm>
            <a:off x="776537" y="5958220"/>
            <a:ext cx="7556421" cy="1299448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0C336EA-33F7-144E-7AF6-A3DBFAE3DFE1}"/>
              </a:ext>
            </a:extLst>
          </p:cNvPr>
          <p:cNvSpPr/>
          <p:nvPr/>
        </p:nvSpPr>
        <p:spPr>
          <a:xfrm>
            <a:off x="1010970" y="61926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384653"/>
                </a:solidFill>
                <a:latin typeface="Host Grotesk Medium"/>
              </a:rPr>
              <a:t>Phase 2: Anomaly</a:t>
            </a:r>
            <a:endParaRPr lang="en-US" sz="2200" dirty="0">
              <a:latin typeface="Host Grotesk Medium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EA94F4F-5223-0F10-CC5D-29F25D4FBD69}"/>
              </a:ext>
            </a:extLst>
          </p:cNvPr>
          <p:cNvSpPr/>
          <p:nvPr/>
        </p:nvSpPr>
        <p:spPr>
          <a:xfrm>
            <a:off x="1010970" y="6683072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dirty="0" err="1">
                <a:solidFill>
                  <a:srgbClr val="384653"/>
                </a:solidFill>
                <a:latin typeface="Roboto"/>
                <a:ea typeface="Roboto"/>
                <a:cs typeface="Roboto"/>
              </a:rPr>
              <a:t>PatchCore</a:t>
            </a:r>
            <a:r>
              <a:rPr lang="en-US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 flags unexpected abnormalities with visual heatmaps</a:t>
            </a:r>
            <a:endParaRPr lang="en-US" dirty="0"/>
          </a:p>
          <a:p>
            <a:pPr>
              <a:lnSpc>
                <a:spcPts val="2650"/>
              </a:lnSpc>
            </a:pPr>
            <a:endParaRPr lang="en-US" sz="1750" dirty="0">
              <a:solidFill>
                <a:srgbClr val="384653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9135" y="484227"/>
            <a:ext cx="6791444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3200" dirty="0">
                <a:solidFill>
                  <a:srgbClr val="2E3C4E"/>
                </a:solidFill>
                <a:latin typeface="Host Grotesk Medium"/>
                <a:ea typeface="Host Grotesk Medium" pitchFamily="34" charset="-122"/>
                <a:cs typeface="Host Grotesk Medium" pitchFamily="34" charset="-120"/>
              </a:rPr>
              <a:t>Surface Defect Detection Architecture</a:t>
            </a:r>
            <a:endParaRPr lang="en-US" sz="3200" dirty="0">
              <a:latin typeface="Host Grotesk Medium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214" y="1235154"/>
            <a:ext cx="6627733" cy="59518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79675" y="2513848"/>
            <a:ext cx="2470330" cy="21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Image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838188" y="5690644"/>
            <a:ext cx="2392601" cy="21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YOLOv8 Detection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61836" y="2741369"/>
            <a:ext cx="2392600" cy="659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with Bounding Boxes and Confidence Scores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49135" y="7320677"/>
            <a:ext cx="11332012" cy="42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250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This architecture uses YOLOv8 to identify known defect patterns, providing precise detection with bounding boxes and confidence scores for each identified defect.</a:t>
            </a:r>
            <a:endParaRPr lang="en-US" sz="1250" dirty="0">
              <a:latin typeface="Roboto"/>
              <a:ea typeface="Roboto"/>
              <a:cs typeface="Robot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A05BD5-962D-61A0-037E-48BB2822EB38}"/>
              </a:ext>
            </a:extLst>
          </p:cNvPr>
          <p:cNvSpPr/>
          <p:nvPr/>
        </p:nvSpPr>
        <p:spPr>
          <a:xfrm>
            <a:off x="12394953" y="7567366"/>
            <a:ext cx="2235447" cy="662232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3065"/>
            <a:ext cx="61488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Multi-Domain Coverage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25472"/>
            <a:ext cx="3700105" cy="2286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95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Metal Manufacturing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86212"/>
            <a:ext cx="6379607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scratches, pits, inclusions, patches, rolled-in scale, and crazing on steel surfaces using NEU-DET dataset.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825472"/>
            <a:ext cx="3700224" cy="2286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5395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Building Inspection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5886212"/>
            <a:ext cx="637972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Flags concrete cracks, spalling, corrosion, and structural damage for preventive maintenance and safety compliance.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1C785-D68C-A545-63E9-434A16E5220D}"/>
              </a:ext>
            </a:extLst>
          </p:cNvPr>
          <p:cNvSpPr/>
          <p:nvPr/>
        </p:nvSpPr>
        <p:spPr>
          <a:xfrm>
            <a:off x="12394953" y="7567366"/>
            <a:ext cx="2235447" cy="662232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5356"/>
            <a:ext cx="65877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 Cases &amp;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10776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958227"/>
            <a:ext cx="34319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Automotive Manufacturing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448645"/>
            <a:ext cx="6379607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Inspects critical components like engine blocks, chassis, and body panels for weld defects, surface imperfections, and structural anomalies, ensuring vehicle safety and performance.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10776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958227"/>
            <a:ext cx="33948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384653"/>
                </a:solidFill>
                <a:latin typeface="Host Grotesk Medium"/>
                <a:ea typeface="Host Grotesk Medium" pitchFamily="34" charset="-122"/>
                <a:cs typeface="Host Grotesk Medium" pitchFamily="34" charset="-120"/>
              </a:rPr>
              <a:t>Aerospace and Ship Building Quality Control</a:t>
            </a:r>
            <a:endParaRPr lang="en-US" sz="2200" dirty="0">
              <a:latin typeface="Host Grotesk Medium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56884" y="3448645"/>
            <a:ext cx="637972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microscopic cracks, fatigue, and material inconsistencies in aircraft parts such as turbine blades, wing structures, and fuselage components, crucial for flight safety.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33517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384653"/>
                </a:solidFill>
                <a:latin typeface="Host Grotesk Medium"/>
              </a:rPr>
              <a:t>Furnishings Manufacturing</a:t>
            </a:r>
            <a:endParaRPr lang="en-US" dirty="0">
              <a:latin typeface="Host Grotesk Medium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dirty="0">
                <a:solidFill>
                  <a:srgbClr val="384653"/>
                </a:solidFill>
              </a:rPr>
              <a:t>Inspects wooden surfaces, joints, and upholstery for defects like cracks, splinters, uneven finishes, misaligned edges, and fabric tears — ensuring product quality and aesthetic consistency before delivery.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3152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Infrastructure Inspection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cracks, potholes, corrosion, and structural integrity issues on bridges, roads, and railway tracks, preventing failures and extending asset lifespan.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010D3F-D750-F45F-2BDE-CEC46BC2B1BD}"/>
              </a:ext>
            </a:extLst>
          </p:cNvPr>
          <p:cNvSpPr/>
          <p:nvPr/>
        </p:nvSpPr>
        <p:spPr>
          <a:xfrm>
            <a:off x="12394953" y="7567366"/>
            <a:ext cx="2235447" cy="662232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21" y="806648"/>
            <a:ext cx="4777740" cy="57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Demonstration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022965" y="2214519"/>
            <a:ext cx="5994440" cy="183833"/>
          </a:xfrm>
          <a:prstGeom prst="roundRect">
            <a:avLst>
              <a:gd name="adj" fmla="val 420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7097" y="2030568"/>
            <a:ext cx="551736" cy="551736"/>
          </a:xfrm>
          <a:prstGeom prst="roundRect">
            <a:avLst>
              <a:gd name="adj" fmla="val 8286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972" y="2168442"/>
            <a:ext cx="275868" cy="2758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0930" y="2731369"/>
            <a:ext cx="590276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400" b="1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01. </a:t>
            </a:r>
            <a:r>
              <a:rPr lang="en-US" sz="1400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Upload image or use webcam for live inspection</a:t>
            </a:r>
            <a:endParaRPr lang="en-US" sz="1400" dirty="0">
              <a:latin typeface="Roboto"/>
              <a:ea typeface="Roboto"/>
              <a:cs typeface="Roboto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030506" y="3466368"/>
            <a:ext cx="5994559" cy="183833"/>
          </a:xfrm>
          <a:prstGeom prst="roundRect">
            <a:avLst>
              <a:gd name="adj" fmla="val 420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54638" y="3282417"/>
            <a:ext cx="551736" cy="551736"/>
          </a:xfrm>
          <a:prstGeom prst="roundRect">
            <a:avLst>
              <a:gd name="adj" fmla="val 8286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512" y="3420291"/>
            <a:ext cx="275868" cy="2758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8471" y="3983219"/>
            <a:ext cx="5902881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400" b="1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02.</a:t>
            </a:r>
            <a:r>
              <a:rPr lang="en-US" sz="1400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 Select domain: Metal or building</a:t>
            </a:r>
            <a:endParaRPr lang="en-US" sz="1400" dirty="0">
              <a:latin typeface="Roboto"/>
              <a:ea typeface="Roboto"/>
              <a:cs typeface="Roboto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7735999" y="5045120"/>
            <a:ext cx="5994440" cy="183833"/>
          </a:xfrm>
          <a:prstGeom prst="roundRect">
            <a:avLst>
              <a:gd name="adj" fmla="val 420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460131" y="4861168"/>
            <a:ext cx="551736" cy="551736"/>
          </a:xfrm>
          <a:prstGeom prst="roundRect">
            <a:avLst>
              <a:gd name="adj" fmla="val 8286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8006" y="4999042"/>
            <a:ext cx="275868" cy="2758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43963" y="5561970"/>
            <a:ext cx="590276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400" b="1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03.</a:t>
            </a:r>
            <a:r>
              <a:rPr lang="en-US" sz="1400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 View detection results with bounding boxes and confidence scores</a:t>
            </a:r>
            <a:endParaRPr lang="en-US" sz="1400" dirty="0">
              <a:latin typeface="Roboto"/>
              <a:ea typeface="Roboto"/>
              <a:cs typeface="Roboto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7765843" y="6375027"/>
            <a:ext cx="5994559" cy="183833"/>
          </a:xfrm>
          <a:prstGeom prst="roundRect">
            <a:avLst>
              <a:gd name="adj" fmla="val 420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489975" y="6191075"/>
            <a:ext cx="551736" cy="551736"/>
          </a:xfrm>
          <a:prstGeom prst="roundRect">
            <a:avLst>
              <a:gd name="adj" fmla="val 8286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7849" y="6328950"/>
            <a:ext cx="275868" cy="2758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73807" y="6891877"/>
            <a:ext cx="5902881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400" b="1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04.</a:t>
            </a:r>
            <a:r>
              <a:rPr lang="en-US" sz="1400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 Download comprehensive PDF inspection report</a:t>
            </a:r>
            <a:endParaRPr lang="en-US" sz="1400" dirty="0">
              <a:latin typeface="Roboto"/>
              <a:ea typeface="Roboto"/>
              <a:cs typeface="Robo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E53D08-A1A4-718E-F60B-F2F86F2DFD3B}"/>
              </a:ext>
            </a:extLst>
          </p:cNvPr>
          <p:cNvSpPr/>
          <p:nvPr/>
        </p:nvSpPr>
        <p:spPr>
          <a:xfrm>
            <a:off x="12394953" y="7567366"/>
            <a:ext cx="2235447" cy="662232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70E963-2EC9-F7F6-36DD-65EEE9DB45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483608"/>
            <a:ext cx="6766560" cy="3127248"/>
          </a:xfrm>
          <a:prstGeom prst="rect">
            <a:avLst/>
          </a:prstGeom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04076A-B635-C37E-7F8D-1D2412DCCA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6452" y="748284"/>
            <a:ext cx="6608064" cy="32895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020" y="864156"/>
            <a:ext cx="5207675" cy="65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Technical Foundation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29020" y="1897618"/>
            <a:ext cx="13172361" cy="59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system is built on a robust technical foundation, leveraging cutting-edge AI for defect detection, streamlined data processing, and seamless system integration.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95567" y="2841383"/>
            <a:ext cx="2603778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Technologies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695567" y="3357995"/>
            <a:ext cx="6332101" cy="1699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Ultralytics YOLOv8: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State-of-the-art object detection for known defects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Gradio: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Rapid web interface development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OpenCV: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High-performance image processing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FPDF2: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Automated report generation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543446" y="2841383"/>
            <a:ext cx="2603778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Training Datasets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7543446" y="3357995"/>
            <a:ext cx="6332101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NEU-DET for metal surface defects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Kaggle structural damage collections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543446" y="4196433"/>
            <a:ext cx="6332101" cy="59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Colab notebooks enable reproducible training and rapid model iteration.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77F4F2-6C3C-E157-D6BB-810A72122FBE}"/>
              </a:ext>
            </a:extLst>
          </p:cNvPr>
          <p:cNvSpPr/>
          <p:nvPr/>
        </p:nvSpPr>
        <p:spPr>
          <a:xfrm>
            <a:off x="12394953" y="7567366"/>
            <a:ext cx="2235447" cy="662232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1207"/>
            <a:ext cx="62083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Scalability &amp; Next Steps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130147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3569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Domain Expansion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847380"/>
            <a:ext cx="619553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textiles, pharmaceuticals, food processing sectors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491032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717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Edge Deployment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208264"/>
            <a:ext cx="619553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models for real-time factory floor integration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851916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078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Active Learning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569148"/>
            <a:ext cx="619553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improvement through production feedback loops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280190" y="6467951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err="1">
                <a:solidFill>
                  <a:srgbClr val="384653"/>
                </a:solidFill>
                <a:latin typeface="Roboto"/>
                <a:ea typeface="Roboto"/>
                <a:cs typeface="Roboto"/>
              </a:rPr>
              <a:t>SurfaceVision</a:t>
            </a:r>
            <a:r>
              <a:rPr lang="en-US" sz="1750" dirty="0">
                <a:solidFill>
                  <a:srgbClr val="384653"/>
                </a:solidFill>
                <a:latin typeface="Roboto"/>
                <a:ea typeface="Roboto"/>
                <a:cs typeface="Roboto"/>
              </a:rPr>
              <a:t> AI is ready for pilot deployment and positioned to transform quality control across industries.</a:t>
            </a:r>
            <a:endParaRPr lang="en-US" sz="1750" dirty="0">
              <a:latin typeface="Roboto"/>
              <a:ea typeface="Roboto"/>
              <a:cs typeface="Roboto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91DFB5-5631-6CD8-AF67-8E237F1B6692}"/>
              </a:ext>
            </a:extLst>
          </p:cNvPr>
          <p:cNvSpPr/>
          <p:nvPr/>
        </p:nvSpPr>
        <p:spPr>
          <a:xfrm>
            <a:off x="12394953" y="7567366"/>
            <a:ext cx="2235447" cy="662232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068317" y="3759381"/>
            <a:ext cx="24813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2E3C4E"/>
                </a:solidFill>
                <a:latin typeface="Host Grotesk Medium"/>
                <a:ea typeface="Host Grotesk Medium" pitchFamily="34" charset="-122"/>
                <a:cs typeface="Host Grotesk Medium" pitchFamily="34" charset="-120"/>
              </a:rPr>
              <a:t>Thank You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98</cp:revision>
  <dcterms:created xsi:type="dcterms:W3CDTF">2026-02-20T09:02:49Z</dcterms:created>
  <dcterms:modified xsi:type="dcterms:W3CDTF">2026-02-21T06:04:52Z</dcterms:modified>
</cp:coreProperties>
</file>